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In 45 minutes we'll turn 'a browser' into an agent capability. We build up from Lab 3 — a deterministic, scheduled pipeline using the AgentCore Browser tool — to Lab 4, where we add an LLM (Nova Act) and a Strands agent that orchestrates the tools. By the end you'll know the built-in tool architecture, how to drive the Browser tool, and how to combine tools into a richer app.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map exactly to the session's stated takeaways. Keep coming back to #3 — combining tools is the payoff; the browser alone is useful, but the browser plus reasoning plus a safety net is a capable application.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demos anchor the talk — Lab 3 and Lab 4. If we're short on time, the Lab 4 demo is the one to protect; it shows the browser tool combined with an LLM and an orchestrator.</a:t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the tension: deterministic automation is cheap and reproducible but brittle to change; a pure LLM browser agent adapts but is slow, costs a model call per step, and is hard to audit. AgentCore's built-in Browser tool plus the right driver lets us choose per-field. That's the whole session.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mental model: the agent doesn't run Chrome; it calls a Browser tool that runs in a dedicated micro-VM in AgentCore. Same pattern for Code Interpreter. Tools are isolated, observable, and framework-agnostic. Today we integrate the Browser tool specifically.</a:t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the properties that make a browser usable in production automation. Session replay and micro-VM isolation are the enterprise story; browser profiles solve 'how do I stay logged in without a human'. Everything we build sits on top of these.</a:t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Browser tool, two drivers. This is the core design lever of the whole talk. Lab 3 uses Playwright — deterministic. Lab 4 uses Nova Act for one field that needs judgment, on the SAME session. You pick the driver per task, not per app.</a:t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concrete, relatable task carries both labs so the audience never loses the thread. Lab 3 = the deterministic version. Lab 4 = the same task after the form gains a field that can't be looked up. That single change is what motivates the LLM.</a:t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flow left to right: a schedule delivers the payload to a thin Lambda, which invokes the runtime; the runtime reads the sheet and drives the Browser tool with Playwright, guarded by a DynamoDB dedup table; everything lands in CloudWatch with session replay. No model anywhere. This is the reproducible, cheap baseline.</a:t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durability trick: never target Google's internal field IDs. Locate by the label a human reads, then act by ARIA role. This survived every form change we hit. Deterministic doesn't mean fragile if you anchor on semantics.</a:t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ideas that make daily runs safe: (1) the whole job is one payload, so it's composable; (2) a reserve-before-submit dedup key means re-runs and re-deliveries never double-submit. This is the difference between a demo and something you can schedule.</a:t>
            </a:r>
            <a:endParaRPr/>
          </a:p>
        </p:txBody>
      </p:sp>
      <p:sp>
        <p:nvSpPr>
          <p:cNvPr id="210" name="Google Shape;2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checklist. Keep it tight. If the live run is slow, talk over the CloudWatch session replay from a prior run. The point to land: this is a real browser filling a real form, scheduled and idempotent, with zero LLM.</a:t>
            </a:r>
            <a:endParaRPr/>
          </a:p>
        </p:txBody>
      </p:sp>
      <p:sp>
        <p:nvSpPr>
          <p:cNvPr id="229" name="Google Shape;2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Save your audience an hour: granting Start isn't enough — connecting to the automation stream is a second action. Grant bedrock-agentcore:*Browser* to the runtime execution role. We hit both gates in sequence; this slide is the shortcut.</a:t>
            </a:r>
            <a:endParaRPr/>
          </a:p>
        </p:txBody>
      </p:sp>
      <p:sp>
        <p:nvSpPr>
          <p:cNvPr id="259" name="Google Shape;2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pivot of the whole session. One new field turns a lookup into a judgment. You could hardcode a preference→dish table, but it's brittle and wrong the moment the menu changes. So we reach for the LLM — but only for this one field.</a:t>
            </a:r>
            <a:endParaRPr/>
          </a:p>
        </p:txBody>
      </p:sp>
      <p:sp>
        <p:nvSpPr>
          <p:cNvPr id="284" name="Google Shape;2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5fafbc9f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f5fafbc9f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4 = Lab 3 plus judgment plus a safety net plus orchestration. Critically, all three share ONE browser session: Nova Act owns it, and we reuse its Playwright page for the deterministic fields. The Strands agent sits on top and turns the run into a reasoned report.</a:t>
            </a:r>
            <a:endParaRPr/>
          </a:p>
        </p:txBody>
      </p:sp>
      <p:sp>
        <p:nvSpPr>
          <p:cNvPr id="300" name="Google Shape;300;g3f5fafbc9f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5fafbc9f1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f5fafbc9f1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flow left to right: a schedule delivers the payload to a thin Lambda, which invokes the runtime; the runtime reads the sheet and drives the Browser tool with Playwright, guarded by a DynamoDB dedup table; everything lands in CloudWatch with session replay. No model anywhere. This is the reproducible, cheap baseline.</a:t>
            </a:r>
            <a:endParaRPr/>
          </a:p>
        </p:txBody>
      </p:sp>
      <p:sp>
        <p:nvSpPr>
          <p:cNvPr id="324" name="Google Shape;324;g3f5fafbc9f1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act() call — plain English, no selectors. Then show the actual reasoning we captured: the model talked itself through gluten in each dish and picked the quinoa salad. That's the capability you're buying. And it's bounded — one field, one call.</a:t>
            </a:r>
            <a:endParaRPr/>
          </a:p>
        </p:txBody>
      </p:sp>
      <p:sp>
        <p:nvSpPr>
          <p:cNvPr id="334" name="Google Shape;3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moral of the series. The LLM makes the judgment; deterministic code enforces a safety floor. It doesn't re-specify the answer — it tags dishes and blocks clear violations. Great teaching moment: run strict mode live and watch it catch the vegan-pasta pick.</a:t>
            </a:r>
            <a:endParaRPr/>
          </a:p>
        </p:txBody>
      </p:sp>
      <p:sp>
        <p:nvSpPr>
          <p:cNvPr id="350" name="Google Shape;3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takeaway #3 made concrete. You wrap the browser pipeline as a tool and let a Strands agent orchestrate. The model runs once per invocation to sequence and report — not once per row. That's how you combine tools without paying LLM cost everywhere.</a:t>
            </a:r>
            <a:endParaRPr/>
          </a:p>
        </p:txBody>
      </p:sp>
      <p:sp>
        <p:nvSpPr>
          <p:cNvPr id="368" name="Google Shape;36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checklist for Lab 4. The magic moment is the CloudWatch trace of Nova Act's think()/act() reasoning. If live is flaky, replay a prior run. Optionally flip GUARDRAIL=strict to show the safety net firing.</a:t>
            </a:r>
            <a:endParaRPr/>
          </a:p>
        </p:txBody>
      </p:sp>
      <p:sp>
        <p:nvSpPr>
          <p:cNvPr id="384" name="Google Shape;38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operational reality. One entrypoint, a handful of make targets, account auto-detected. Auth is the key design choice: API key locally, IAM in the runtime — no secrets in the container. And a real caveat: agent mode needs a Bedrock model your account can actually reach.</a:t>
            </a:r>
            <a:endParaRPr/>
          </a:p>
        </p:txBody>
      </p:sp>
      <p:sp>
        <p:nvSpPr>
          <p:cNvPr id="414" name="Google Shape;41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rapid-fire 'save yourself the pain' list — every one of these cost us a debugging cycle. If the audience remembers only these six, they'll ship faster than we did.</a:t>
            </a:r>
            <a:endParaRPr/>
          </a:p>
        </p:txBody>
      </p:sp>
      <p:sp>
        <p:nvSpPr>
          <p:cNvPr id="437" name="Google Shape;43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restating the three takeaways, now proven. Point them at the repo: Labs 3 &amp; 4, the workflow_info deep-dive, and the ImplementationPlan for a step-by-step. Invite questions — the browser IAM gates and the deterministic-vs-LLM choice usually spark the best ones.</a:t>
            </a:r>
            <a:endParaRPr/>
          </a:p>
        </p:txBody>
      </p:sp>
      <p:sp>
        <p:nvSpPr>
          <p:cNvPr id="464" name="Google Shape;46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66928" y="1554480"/>
            <a:ext cx="2194560" cy="502920"/>
          </a:xfrm>
          <a:prstGeom prst="roundRect">
            <a:avLst>
              <a:gd fmla="val 49091" name="adj"/>
            </a:avLst>
          </a:prstGeom>
          <a:solidFill>
            <a:srgbClr val="16273A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66928" y="155448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BUILT-IN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286000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Extending Agents with the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AgentCore Browser Tool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66928" y="411480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F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Web automation as a first-class agent capability — from a deterministic pipeline to a hybrid LLM agent.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WHAT YOU'LL LEAVE WITH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66928" y="1783080"/>
            <a:ext cx="11064240" cy="1325880"/>
          </a:xfrm>
          <a:prstGeom prst="roundRect">
            <a:avLst>
              <a:gd fmla="val 6897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68680" y="2212848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6868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554480" y="1984248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Built-in tool architecture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554480" y="2386584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How AgentCore exposes managed tools (Browser, Code Interpreter) that agents call — isolated, observable, no infra to run.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66928" y="3264408"/>
            <a:ext cx="11064240" cy="1325880"/>
          </a:xfrm>
          <a:prstGeom prst="roundRect">
            <a:avLst>
              <a:gd fmla="val 6897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68680" y="3694176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554480" y="3465576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 the Browser tool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554480" y="3867912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Drive a real headless Chrome from your runtime to retrieve data and act on the web — two ways: deterministic Playwright and LLM-driven Nova Act.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66928" y="4745736"/>
            <a:ext cx="11064240" cy="1325880"/>
          </a:xfrm>
          <a:prstGeom prst="roundRect">
            <a:avLst>
              <a:gd fmla="val 6897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68680" y="517550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68680" y="5175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54480" y="4946904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Combine tools into richer apps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554480" y="534924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Wrap the browser work as tools and let a Strands agent orchestrate — reasoning where it helps, deterministic code + guardrails where it matters.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HOW WE'LL SPEND 45 MINUTES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66928" y="1828800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22960" y="1828800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103120" y="1828800"/>
            <a:ext cx="9235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Why browser automation is an agent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66928" y="2697480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822960" y="2697480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103120" y="2697480"/>
            <a:ext cx="9235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AgentCore built-in tool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66928" y="3566160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22960" y="3566160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12m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103120" y="3566160"/>
            <a:ext cx="9235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Lab 3 — deterministic Browser-tool pipeline  +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66928" y="4434840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22960" y="4434840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15m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103120" y="4434840"/>
            <a:ext cx="9235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Lab 4 — hybrid: Nova Act + guardrail + Strands  +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66928" y="5303520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22960" y="5303520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103120" y="5303520"/>
            <a:ext cx="9235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Combine, operate, and Q&amp;A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business automation is brittle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66928" y="178308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9E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AA9E6"/>
                </a:solidFill>
                <a:latin typeface="Arial"/>
                <a:ea typeface="Arial"/>
                <a:cs typeface="Arial"/>
                <a:sym typeface="Arial"/>
              </a:rPr>
              <a:t>The old 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68680" y="246888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Hand-written scripts and RPA macros that replay clicks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Break the moment a page, selector, or layout changes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No isolation, no audit trail, hard to schedule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An LLM that 'has a browser' is powerful but non-deterministic and costly per step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309360" y="1783080"/>
            <a:ext cx="5303520" cy="4114800"/>
          </a:xfrm>
          <a:prstGeom prst="roundRect">
            <a:avLst>
              <a:gd fmla="val 222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What we actually want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583680" y="246888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 managed browser as a callable tool — no infra to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Deterministic where the task is known and measurable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LLM reasoning only where a human judgment is needed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Isolation, session replay, and idempotency built 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TAKEAWAY #1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AgentCore built-in tool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66928" y="1600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Your agent runs in AgentCore Runtime and calls managed tools over a control plane. The tools run in isolated micro-VMs — you don't provision or patch anything.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66928" y="2423160"/>
            <a:ext cx="3383280" cy="3200400"/>
          </a:xfrm>
          <a:prstGeom prst="roundRect">
            <a:avLst>
              <a:gd fmla="val 285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AgentCore Runtime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777240" y="3063240"/>
            <a:ext cx="30175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Serverless host for your agent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Session isolation + identity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OpenTelemetry → CloudWatch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Any framework (Strands, ADK…)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206240" y="2423160"/>
            <a:ext cx="7406640" cy="987552"/>
          </a:xfrm>
          <a:prstGeom prst="roundRect">
            <a:avLst>
              <a:gd fmla="val 9259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4206240" y="2423160"/>
            <a:ext cx="82296" cy="987552"/>
          </a:xfrm>
          <a:prstGeom prst="roundRect">
            <a:avLst>
              <a:gd fmla="val 44444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434840" y="2551176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434840" y="289864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Managed headless Chrome. Navigate, read, click, fill, submit. Session replay.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206240" y="3538728"/>
            <a:ext cx="7406640" cy="987552"/>
          </a:xfrm>
          <a:prstGeom prst="roundRect">
            <a:avLst>
              <a:gd fmla="val 9259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206240" y="3538728"/>
            <a:ext cx="82296" cy="987552"/>
          </a:xfrm>
          <a:prstGeom prst="roundRect">
            <a:avLst>
              <a:gd fmla="val 44444" name="adj"/>
            </a:avLst>
          </a:prstGeom>
          <a:solidFill>
            <a:srgbClr val="5AA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434840" y="36667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 Interpreter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434840" y="40142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Sandboxed code execution for data + logic.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206240" y="4654296"/>
            <a:ext cx="7406640" cy="987552"/>
          </a:xfrm>
          <a:prstGeom prst="roundRect">
            <a:avLst>
              <a:gd fmla="val 9259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4206240" y="4654296"/>
            <a:ext cx="82296" cy="987552"/>
          </a:xfrm>
          <a:prstGeom prst="roundRect">
            <a:avLst>
              <a:gd fmla="val 44444" name="adj"/>
            </a:avLst>
          </a:prstGeom>
          <a:solidFill>
            <a:srgbClr val="34C6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434840" y="478231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</a:rPr>
              <a:t>Knowledgebase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434840" y="51297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Existing Kb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206240" y="5806440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This session zooms into the Browser tool (orange) — the others compose the same 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TAKEAWAY #2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Browser tool, up close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66928" y="1783080"/>
            <a:ext cx="3538728" cy="1417320"/>
          </a:xfrm>
          <a:prstGeom prst="roundRect">
            <a:avLst>
              <a:gd fmla="val 645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795528" y="1984248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1225296" y="1965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Managed &amp; serverless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795528" y="244144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 real headless Chromium spun up on demand — no image to build, no fleet to run.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242816" y="1783080"/>
            <a:ext cx="3538728" cy="1417320"/>
          </a:xfrm>
          <a:prstGeom prst="roundRect">
            <a:avLst>
              <a:gd fmla="val 6452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4471416" y="1984248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4901184" y="1965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Micro-VM isolation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471416" y="244144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Each session gets isolated CPU/memory/filesystem; memory-sanitized on teardown.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918704" y="1783080"/>
            <a:ext cx="3538728" cy="1417320"/>
          </a:xfrm>
          <a:prstGeom prst="roundRect">
            <a:avLst>
              <a:gd fmla="val 645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8147304" y="1984248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577072" y="1965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 replay + live 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8147304" y="244144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Every action recorded — an auditable trail for side-effecting web work.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66928" y="3337560"/>
            <a:ext cx="3538728" cy="1417320"/>
          </a:xfrm>
          <a:prstGeom prst="roundRect">
            <a:avLst>
              <a:gd fmla="val 6452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795528" y="3538728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1225296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Browser profiles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95528" y="399592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Persist auth/cookies across sessions — log in once, reuse the profile.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242816" y="3337560"/>
            <a:ext cx="3538728" cy="1417320"/>
          </a:xfrm>
          <a:prstGeom prst="roundRect">
            <a:avLst>
              <a:gd fmla="val 645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471416" y="3538728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901184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Reduced CAPTCHA + JS-rendered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471416" y="399592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Handles modern SPAs and dynamic content the way a human browser does.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918704" y="3337560"/>
            <a:ext cx="3538728" cy="1417320"/>
          </a:xfrm>
          <a:prstGeom prst="roundRect">
            <a:avLst>
              <a:gd fmla="val 6452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8147304" y="3538728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8577072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Long sessions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147304" y="399592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Default 15 min, up to 8 hours for large batches.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INTEGRATING THE 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ways to drive 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66928" y="1783080"/>
            <a:ext cx="5394960" cy="4114800"/>
          </a:xfrm>
          <a:prstGeom prst="roundRect">
            <a:avLst>
              <a:gd fmla="val 222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9E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AA9E6"/>
                </a:solidFill>
                <a:latin typeface="Arial"/>
                <a:ea typeface="Arial"/>
                <a:cs typeface="Arial"/>
                <a:sym typeface="Arial"/>
              </a:rPr>
              <a:t>Deterministic — Playwright / CDP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68680" y="251460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Attach Playwright to the session over CDP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Fixed selectors — do exactly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Fast, cheap, 100% reproducible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Best for known, stable pages  → Lab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868680" y="4160520"/>
            <a:ext cx="4800600" cy="1554480"/>
          </a:xfrm>
          <a:prstGeom prst="roundRect">
            <a:avLst>
              <a:gd fmla="val 352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069848" y="4306824"/>
            <a:ext cx="44348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client = BrowserClient(region); client.start()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ws, hdr = client.generate_ws_headers()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browser = pw.chromium\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.connect_over_cdp(ws, headers=hdr)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236208" y="1783080"/>
            <a:ext cx="5394960" cy="4114800"/>
          </a:xfrm>
          <a:prstGeom prst="roundRect">
            <a:avLst>
              <a:gd fmla="val 2222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Agentic — Amazon Nova 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537960" y="251460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Plain-English act() instructions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Reads the page, decides, clicks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~90% reliable; a model call per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Best for variable / unknown UIs  → Lab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537960" y="4160520"/>
            <a:ext cx="4800600" cy="1554480"/>
          </a:xfrm>
          <a:prstGeom prst="roundRect">
            <a:avLst>
              <a:gd fmla="val 352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739128" y="4306824"/>
            <a:ext cx="44348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with NovaAct(cdp_endpoint_url=ws,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cdp_headers=hdr) as nova: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nova.act("pick the gluten-free dish")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page = nova.page   # same session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ONE EXAMPLE ACROSS BOTH LABS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Sheet → Google 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66928" y="1828800"/>
            <a:ext cx="11064240" cy="1188720"/>
          </a:xfrm>
          <a:prstGeom prst="roundRect">
            <a:avLst>
              <a:gd fmla="val 769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822960" y="1965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Read attendee rows from a Sheet and submit each as one response to a registration Form — every day, unattended, no duplicates.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66928" y="3291840"/>
            <a:ext cx="5394960" cy="2468880"/>
          </a:xfrm>
          <a:prstGeom prst="roundRect">
            <a:avLst>
              <a:gd fmla="val 3704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566928" y="3291840"/>
            <a:ext cx="5394960" cy="548640"/>
          </a:xfrm>
          <a:prstGeom prst="roundRect">
            <a:avLst>
              <a:gd fmla="val 16667" name="adj"/>
            </a:avLst>
          </a:prstGeom>
          <a:solidFill>
            <a:srgbClr val="5AA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566928" y="3291840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Lab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41248" y="402336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Deterministic Browser-tool pipeline. Known fields, fixed selectors, scheduled, idempotent. No LLM.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236208" y="3291840"/>
            <a:ext cx="5394960" cy="2468880"/>
          </a:xfrm>
          <a:prstGeom prst="roundRect">
            <a:avLst>
              <a:gd fmla="val 3704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236208" y="3291840"/>
            <a:ext cx="5394960" cy="54864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236208" y="3291840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Lab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510528" y="402336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Form gains a Food Option with no sheet column — the dish must be reasoned. Add Nova Act + a guardrail + a Strands agent.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3 — DETERMINISTIC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2916300" y="131363"/>
            <a:ext cx="86499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Architecture: scheduled Browser-tool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250" y="911077"/>
            <a:ext cx="9910575" cy="55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3 — THE FILL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Locate by visible label, act via ARIA role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66928" y="1783080"/>
            <a:ext cx="6766560" cy="4114800"/>
          </a:xfrm>
          <a:prstGeom prst="roundRect">
            <a:avLst>
              <a:gd fmla="val 1333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768096" y="1929384"/>
            <a:ext cx="6400800" cy="3822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E8BA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8BA6"/>
                </a:solidFill>
                <a:latin typeface="Courier New"/>
                <a:ea typeface="Courier New"/>
                <a:cs typeface="Courier New"/>
                <a:sym typeface="Courier New"/>
              </a:rPr>
              <a:t># match the human-readable question, not brittle 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def _item(page, title):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page.locator('div[role=listitem]') \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     .filter(has=page.get_by_text(title,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exact=True)).first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def choose_radio(page, title, value):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 _item(page, title) \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      .get_by_role('radio', name=value).click()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choose_radio(page, 'T-Shirt Size', 'M')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E8BA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8BA6"/>
                </a:solidFill>
                <a:latin typeface="Courier New"/>
                <a:ea typeface="Courier New"/>
                <a:cs typeface="Courier New"/>
                <a:sym typeface="Courier New"/>
              </a:rPr>
              <a:t># click Submit  → verify 'response recorded'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7543800" y="1783080"/>
            <a:ext cx="4087368" cy="4114800"/>
          </a:xfrm>
          <a:prstGeom prst="roundRect">
            <a:avLst>
              <a:gd fmla="val 223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The rule of thumb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7818120" y="2514600"/>
            <a:ext cx="35661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Find questions by their visible title (get_by_text, exact)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Act through ARIA roles: textbox / radio / checkbox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Survives Google changing internal entry.* IDs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Validate option values before clicking — fail loudly, never submit a dropped answer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3 — COMPOSABILITY +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payload, and no double-submits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566928" y="1783080"/>
            <a:ext cx="5394960" cy="4114800"/>
          </a:xfrm>
          <a:prstGeom prst="roundRect">
            <a:avLst>
              <a:gd fmla="val 222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868680" y="199339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9E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AA9E6"/>
                </a:solidFill>
                <a:latin typeface="Arial"/>
                <a:ea typeface="Arial"/>
                <a:cs typeface="Arial"/>
                <a:sym typeface="Arial"/>
              </a:rPr>
              <a:t>The only variable: the payload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868680" y="2468880"/>
            <a:ext cx="4800600" cy="1554480"/>
          </a:xfrm>
          <a:prstGeom prst="roundRect">
            <a:avLst>
              <a:gd fmla="val 352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1069848" y="2615184"/>
            <a:ext cx="44348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"sheet": { "id": "…", "gid": "…" },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"form":  { "public_id": "…" },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"region": "us-east-1"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868680" y="416052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Retarget any form/sheet with a config change — no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Delivered by EventBridge as the schedule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236208" y="1783080"/>
            <a:ext cx="5394960" cy="4114800"/>
          </a:xfrm>
          <a:prstGeom prst="roundRect">
            <a:avLst>
              <a:gd fmla="val 2222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6537960" y="199339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6B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4C6B0"/>
                </a:solidFill>
                <a:latin typeface="Arial"/>
                <a:ea typeface="Arial"/>
                <a:cs typeface="Arial"/>
                <a:sym typeface="Arial"/>
              </a:rPr>
              <a:t>Idempotency — DynamoDB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537960" y="2468880"/>
            <a:ext cx="4800600" cy="1417320"/>
          </a:xfrm>
          <a:prstGeom prst="roundRect">
            <a:avLst>
              <a:gd fmla="val 3871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6739128" y="2615184"/>
            <a:ext cx="443484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E8BA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8BA6"/>
                </a:solidFill>
                <a:latin typeface="Courier New"/>
                <a:ea typeface="Courier New"/>
                <a:cs typeface="Courier New"/>
                <a:sym typeface="Courier New"/>
              </a:rPr>
              <a:t># reserve BEFORE submit (conditional put)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put_item(pk = form + '#' + email,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ConditionExpression=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     'attribute_not_exists(pk)')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6537960" y="4023360"/>
            <a:ext cx="48463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Already there → skip as duplicate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Submit fails → release the marker, retry next run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Safe against EventBridge at-least-once re-delivery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 3 — deterministic run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66928" y="1920240"/>
            <a:ext cx="11064240" cy="932688"/>
          </a:xfrm>
          <a:prstGeom prst="roundRect">
            <a:avLst>
              <a:gd fmla="val 9804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68680" y="215798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868680" y="2157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1508760" y="1920240"/>
            <a:ext cx="39319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make browser-test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5577840" y="1920240"/>
            <a:ext cx="58521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One row through a real AgentCore Browser session → PASS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566928" y="2971800"/>
            <a:ext cx="11064240" cy="932688"/>
          </a:xfrm>
          <a:prstGeom prst="roundRect">
            <a:avLst>
              <a:gd fmla="val 9804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868680" y="320954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868680" y="32095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1508760" y="2971800"/>
            <a:ext cx="39319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make run-local LIMIT=2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5577840" y="2971800"/>
            <a:ext cx="58521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Read the sheet, fill 2 rows, show submitted / duplicates / failed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566928" y="4023360"/>
            <a:ext cx="11064240" cy="932688"/>
          </a:xfrm>
          <a:prstGeom prst="roundRect">
            <a:avLst>
              <a:gd fmla="val 9804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868680" y="426110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1508760" y="4023360"/>
            <a:ext cx="39319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make deploy · make invoke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5577840" y="4023360"/>
            <a:ext cx="58521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Register the runtime, fire it in the cloud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566928" y="5074920"/>
            <a:ext cx="11064240" cy="932688"/>
          </a:xfrm>
          <a:prstGeom prst="roundRect">
            <a:avLst>
              <a:gd fmla="val 9804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868680" y="531266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868680" y="5312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508760" y="5074920"/>
            <a:ext cx="39319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CloudWatch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577840" y="5074920"/>
            <a:ext cx="58521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Session replay + logs — StartBrowserSession, fills, confirmation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566928" y="61722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Expected:  { submitted, duplicates, failed }  — dedup skips anyone already registered.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REAL-WORLD GOTCHA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IAM gates for the Browser tool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566928" y="182880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822960" y="197510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The toolkit's auto-created runtime role can run the container but cannot start a browser — the first invoke fails AccessDenied.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566928" y="310896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868680" y="3493008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868680" y="3493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554480" y="32918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StartBrowserSession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1554480" y="367588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Create the managed browser session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7498080" y="3474720"/>
            <a:ext cx="3840480" cy="502920"/>
          </a:xfrm>
          <a:prstGeom prst="roundRect">
            <a:avLst>
              <a:gd fmla="val 109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7635240" y="347472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bedrock-agentcore:*Browser*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566928" y="448056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868680" y="4864608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868680" y="4864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554480" y="4663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 stream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554480" y="504748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Connect Playwright/Nova Act to the session's CDP WebSocket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7498080" y="4846320"/>
            <a:ext cx="3840480" cy="502920"/>
          </a:xfrm>
          <a:prstGeom prst="roundRect">
            <a:avLst>
              <a:gd fmla="val 109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7635240" y="484632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(same wildcard covers it)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4 — THE LEAP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field with no data to fill 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566928" y="1783080"/>
            <a:ext cx="5394960" cy="4114800"/>
          </a:xfrm>
          <a:prstGeom prst="roundRect">
            <a:avLst>
              <a:gd fmla="val 2222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Form gains: “Food Option”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Chicken Pizza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Veg Pasta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Mediterranean Quinoa Salad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Tofu Scramble Burrito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868680" y="52578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No column in the sheet says which dish.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6236208" y="1783080"/>
            <a:ext cx="5394960" cy="4114800"/>
          </a:xfrm>
          <a:prstGeom prst="roundRect">
            <a:avLst>
              <a:gd fmla="val 2222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9E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AA9E6"/>
                </a:solidFill>
                <a:latin typeface="Arial"/>
                <a:ea typeface="Arial"/>
                <a:cs typeface="Arial"/>
                <a:sym typeface="Arial"/>
              </a:rPr>
              <a:t>Deterministic code can't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6537960" y="251460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The sheet has a dietary preference, not a dish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Mapping 'Gluten-Free' → the right item is a judgment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 hardcoded lookup breaks when the caterer changes the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This is exactly what an LLM is for — read the live menu and reason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/>
          <p:nvPr/>
        </p:nvSpPr>
        <p:spPr>
          <a:xfrm>
            <a:off x="566928" y="384048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4 — HYBRID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548640" y="658368"/>
            <a:ext cx="11064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brains, one browser session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566928" y="1828800"/>
            <a:ext cx="3612000" cy="2011800"/>
          </a:xfrm>
          <a:prstGeom prst="roundRect">
            <a:avLst>
              <a:gd fmla="val 4545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566928" y="1828800"/>
            <a:ext cx="3612000" cy="502800"/>
          </a:xfrm>
          <a:prstGeom prst="roundRect">
            <a:avLst>
              <a:gd fmla="val 18182" name="adj"/>
            </a:avLst>
          </a:prstGeom>
          <a:solidFill>
            <a:srgbClr val="5AA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704088" y="1828800"/>
            <a:ext cx="333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Deterministic Playwright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795528" y="2468880"/>
            <a:ext cx="3200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Name, email, phone, size, time — fixed selectors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4297680" y="1828800"/>
            <a:ext cx="3612000" cy="2011800"/>
          </a:xfrm>
          <a:prstGeom prst="roundRect">
            <a:avLst>
              <a:gd fmla="val 4545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4297680" y="1828800"/>
            <a:ext cx="3612000" cy="502800"/>
          </a:xfrm>
          <a:prstGeom prst="roundRect">
            <a:avLst>
              <a:gd fmla="val 18182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4434840" y="1828800"/>
            <a:ext cx="333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Nova Act (LLM)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4526280" y="2468880"/>
            <a:ext cx="3200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Reads the live menu, picks the dish for the diet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8028432" y="1828800"/>
            <a:ext cx="3612000" cy="2011800"/>
          </a:xfrm>
          <a:prstGeom prst="roundRect">
            <a:avLst>
              <a:gd fmla="val 4545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8028432" y="1828800"/>
            <a:ext cx="3612000" cy="502800"/>
          </a:xfrm>
          <a:prstGeom prst="roundRect">
            <a:avLst>
              <a:gd fmla="val 18182" name="adj"/>
            </a:avLst>
          </a:prstGeom>
          <a:solidFill>
            <a:srgbClr val="34C6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8165592" y="1828800"/>
            <a:ext cx="333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Guardrail (code)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8257032" y="2468880"/>
            <a:ext cx="3200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Checks the pick isn't unsafe for the diet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566928" y="4114800"/>
            <a:ext cx="11064300" cy="1783200"/>
          </a:xfrm>
          <a:prstGeom prst="roundRect">
            <a:avLst>
              <a:gd fmla="val 5128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868680" y="42976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Orchestrated by a Strands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868680" y="4754880"/>
            <a:ext cx="10607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One AgentCore Browser session; Nova Act owns it and exposes its Playwright page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The Strands agent calls a process_registrations tool, then reports — deployed as one entrypoint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Idempotency (DynamoDB) carries over unchanged from Lab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566928" y="645566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1430000" y="6455664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"/>
          <p:cNvSpPr/>
          <p:nvPr/>
        </p:nvSpPr>
        <p:spPr>
          <a:xfrm>
            <a:off x="566928" y="384048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</a:t>
            </a:r>
            <a:r>
              <a:rPr b="1" lang="en-US" sz="1200">
                <a:solidFill>
                  <a:srgbClr val="FF9900"/>
                </a:solidFill>
              </a:rPr>
              <a:t>4 </a:t>
            </a: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-US" sz="1200">
                <a:solidFill>
                  <a:srgbClr val="FF9900"/>
                </a:solidFill>
              </a:rPr>
              <a:t>LLM + Deterministic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2916300" y="131363"/>
            <a:ext cx="86499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Architecture: scheduled </a:t>
            </a:r>
            <a:r>
              <a:rPr b="1" lang="en-US" sz="3000">
                <a:solidFill>
                  <a:srgbClr val="FFFFFF"/>
                </a:solidFill>
              </a:rPr>
              <a:t>NovaAct + Browser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66928" y="645566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11430000" y="6455664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550" y="793688"/>
            <a:ext cx="9819773" cy="5526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4 — THE LLM 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Nova Act picks the dish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566928" y="1783080"/>
            <a:ext cx="6583680" cy="2926080"/>
          </a:xfrm>
          <a:prstGeom prst="roundRect">
            <a:avLst>
              <a:gd fmla="val 1875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768096" y="1929384"/>
            <a:ext cx="6217920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E8BA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8BA6"/>
                </a:solidFill>
                <a:latin typeface="Courier New"/>
                <a:ea typeface="Courier New"/>
                <a:cs typeface="Courier New"/>
                <a:sym typeface="Courier New"/>
              </a:rPr>
              <a:t># LLM reads the live options and reasons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nova.act(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"On the Food Option question, select the"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"dish most appropriate for a "+diet+" diet."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item = read_selected_radio(page)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if not guardrail_ok(diet, item):   # safety 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 fail_row(); release_dedup()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7360920" y="1783080"/>
            <a:ext cx="4270248" cy="2926080"/>
          </a:xfrm>
          <a:prstGeom prst="roundRect">
            <a:avLst>
              <a:gd fmla="val 3125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7635240" y="19659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From a real run (CloudWatch)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7635240" y="2423160"/>
            <a:ext cx="37490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Gluten-Free →  "Pizza crust has gluten… burrito tortillas have wheat… quinoa is naturally gluten-free" →  selects Mediterranean Quinoa Salad.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566928" y="493776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Screenshot → Nova model → action → screenshot.   ~90% reliable.   One model call per step — reserved for the one field that needs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LAB 4 — THE SAFETY 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guardrail: LLM judgment, deterministic floor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66928" y="1783080"/>
            <a:ext cx="5760720" cy="2743200"/>
          </a:xfrm>
          <a:prstGeom prst="roundRect">
            <a:avLst>
              <a:gd fmla="val 3333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868680" y="199339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The LLM can be confidently wrong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868680" y="242316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Vegan attendee →  Nova Act picked "Veg Pasta" (usually egg/dairy).  Or claimed a burrito is gluten-free (wheat tortilla).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868680" y="347472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Code tags each dish and rejects picks that violate the diet — it doesn't hardcode the answer.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6537960" y="1783080"/>
            <a:ext cx="5074920" cy="2743200"/>
          </a:xfrm>
          <a:prstGeom prst="roundRect">
            <a:avLst>
              <a:gd fmla="val 2000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6739128" y="1929384"/>
            <a:ext cx="4709160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ITEM_TAGS = {'Tofu Scramble Burrito':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{'gluten'}, …}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FORBIDDEN = {'Vegan': {'meat','dairy',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 'egg'}, 'Gluten-Free': {'gluten'}, …}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def guardrail_ok(diet, item):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  return not (ITEM_TAGS[item]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&amp; FORBIDDEN[diet])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566928" y="4754880"/>
            <a:ext cx="11064240" cy="1097280"/>
          </a:xfrm>
          <a:prstGeom prst="roundRect">
            <a:avLst>
              <a:gd fmla="val 8333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868680" y="475488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Modes: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 </a:t>
            </a:r>
            <a:r>
              <a:rPr b="0" i="0" lang="en-US" sz="14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trust the model 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warn </a:t>
            </a:r>
            <a:r>
              <a:rPr b="0" i="0" lang="en-US" sz="14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submit + flag 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 </a:t>
            </a:r>
            <a:r>
              <a:rPr b="0" i="0" lang="en-US" sz="14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block unsafe picks, retry next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TAKEAWAY #3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Combine tools with a Strands agent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566928" y="1783080"/>
            <a:ext cx="6400800" cy="3200400"/>
          </a:xfrm>
          <a:prstGeom prst="roundRect">
            <a:avLst>
              <a:gd fmla="val 1714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768096" y="1929384"/>
            <a:ext cx="603504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from strands import Agent, tool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E0B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FE0B0"/>
                </a:solidFill>
                <a:latin typeface="Courier New"/>
                <a:ea typeface="Courier New"/>
                <a:cs typeface="Courier New"/>
                <a:sym typeface="Courier New"/>
              </a:rPr>
              <a:t>@tool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def process_registrations():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E8B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8BA6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run_pipeline(payload)   # browser 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agent = Agent(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model=BedrockModel("us.amazon.nova-pro-v1:0"),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  tools=[process_registrations])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FE3F5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F5"/>
                </a:solidFill>
                <a:latin typeface="Courier New"/>
                <a:ea typeface="Courier New"/>
                <a:cs typeface="Courier New"/>
                <a:sym typeface="Courier New"/>
              </a:rPr>
              <a:t>agent("Process registrations and report.")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7178040" y="1783080"/>
            <a:ext cx="4453128" cy="3200400"/>
          </a:xfrm>
          <a:prstGeom prst="roundRect">
            <a:avLst>
              <a:gd fmla="val 285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7452360" y="19659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The composition 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7452360" y="2468880"/>
            <a:ext cx="39319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Wrap browser work as a @tool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Agent sequences tools + writes a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LLM at the orchestration layer — once per run, not per row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Native to AgentCore Runtime; one deploy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566928" y="5257800"/>
            <a:ext cx="11064240" cy="640080"/>
          </a:xfrm>
          <a:prstGeom prst="roundRect">
            <a:avLst>
              <a:gd fmla="val 14286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822960" y="52578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Browser tool actuates · Nova Act reasons on one field · guardrail verifies · Strands orchestrates — a richer app than any single tool.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2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 4 — hybrid agent run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566928" y="187452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868680" y="21031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1508760" y="187452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export NOVA_ACT_API_KEY=…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6309360" y="18745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Local auth (runtime uses IAM instead)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566928" y="2898648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868680" y="3127248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1508760" y="2898648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payload {"mode":"agent"}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6309360" y="2898648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Strands agent orchestrates; Nova Pro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566928" y="3922776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868680" y="4151376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"/>
          <p:cNvSpPr/>
          <p:nvPr/>
        </p:nvSpPr>
        <p:spPr>
          <a:xfrm>
            <a:off x="868680" y="41513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1508760" y="3922776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make run-local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6309360" y="3922776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Watch Nova Act reason through the Food Option per diet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566928" y="4946904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868680" y="517550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2"/>
          <p:cNvSpPr/>
          <p:nvPr/>
        </p:nvSpPr>
        <p:spPr>
          <a:xfrm>
            <a:off x="868680" y="5175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1508760" y="4946904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8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D08A"/>
                </a:solidFill>
                <a:latin typeface="Courier New"/>
                <a:ea typeface="Courier New"/>
                <a:cs typeface="Courier New"/>
                <a:sym typeface="Courier New"/>
              </a:rPr>
              <a:t>CloudWatch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6309360" y="4946904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Agent → process_registrations tool → Nova Act picks →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Watch for:  Gluten-Free → Mediterranean Quinoa Salad,  and strict mode catching Vegan → Veg Pasta.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DEPLOY &amp; OPERATE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laptop to a daily job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566928" y="1828800"/>
            <a:ext cx="3611880" cy="3108960"/>
          </a:xfrm>
          <a:prstGeom prst="roundRect">
            <a:avLst>
              <a:gd fmla="val 2941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822960" y="2057400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1252728" y="202996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841248" y="2606040"/>
            <a:ext cx="31546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make deploy → register runtime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make runtime-policy → grant browser/DDB/model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make deploy-lambda · make schedule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4297680" y="1828800"/>
            <a:ext cx="3611880" cy="3108960"/>
          </a:xfrm>
          <a:prstGeom prst="roundRect">
            <a:avLst>
              <a:gd fmla="val 2941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4553712" y="2057400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3"/>
          <p:cNvSpPr/>
          <p:nvPr/>
        </p:nvSpPr>
        <p:spPr>
          <a:xfrm>
            <a:off x="4983480" y="202996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4572000" y="2606040"/>
            <a:ext cx="31546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Local: NOVA_ACT_API_KEY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Runtime: IAM via a Nova Act workflow definition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AgentCore role, not keys in the container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8028432" y="1828800"/>
            <a:ext cx="3611880" cy="3108960"/>
          </a:xfrm>
          <a:prstGeom prst="roundRect">
            <a:avLst>
              <a:gd fmla="val 2941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8284464" y="2057400"/>
            <a:ext cx="310896" cy="310896"/>
          </a:xfrm>
          <a:prstGeom prst="roundRect">
            <a:avLst>
              <a:gd fmla="val 1764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8714232" y="202996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8302752" y="2606040"/>
            <a:ext cx="31546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Agent mode needs a Bedrock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Nova Pro works out of the box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EAF2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Anthropic models need model access + billing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566928" y="5212080"/>
            <a:ext cx="11064240" cy="658368"/>
          </a:xfrm>
          <a:prstGeom prst="roundRect">
            <a:avLst>
              <a:gd fmla="val 13889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822960" y="5212080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EventBridge (05:00) → forwarder Lambda → InvokeAgentRuntime → Browser tool.   Idempotent, so daily + re-delivery are safe.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LESSONS FROM THE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Gotchas worth stealing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566928" y="1783080"/>
            <a:ext cx="3611880" cy="1371600"/>
          </a:xfrm>
          <a:prstGeom prst="roundRect">
            <a:avLst>
              <a:gd fmla="val 666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822960" y="19659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Read the full sheet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822960" y="240487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gviz CSV stops at the first blank row — use export?format=csv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4297680" y="1783080"/>
            <a:ext cx="3611880" cy="1371600"/>
          </a:xfrm>
          <a:prstGeom prst="roundRect">
            <a:avLst>
              <a:gd fmla="val 6667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"/>
          <p:cNvSpPr/>
          <p:nvPr/>
        </p:nvSpPr>
        <p:spPr>
          <a:xfrm>
            <a:off x="4553712" y="19659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Two browser IAM gates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4553712" y="240487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Grant bedrock-agentcore:*Browser* (start + automation stream)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8028432" y="1783080"/>
            <a:ext cx="3611880" cy="1371600"/>
          </a:xfrm>
          <a:prstGeom prst="roundRect">
            <a:avLst>
              <a:gd fmla="val 666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8284464" y="19659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Match labels, not IDs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8284464" y="240487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Locate questions by visible title; forms rename internal IDs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566928" y="3291840"/>
            <a:ext cx="3611880" cy="1371600"/>
          </a:xfrm>
          <a:prstGeom prst="roundRect">
            <a:avLst>
              <a:gd fmla="val 6667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822960" y="34747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Model access ≠ availability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822960" y="391363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Anthropic on Bedrock needs a valid payment instrument first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4297680" y="3291840"/>
            <a:ext cx="3611880" cy="1371600"/>
          </a:xfrm>
          <a:prstGeom prst="roundRect">
            <a:avLst>
              <a:gd fmla="val 6667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4553712" y="34747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Idempotency before scheduling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4553712" y="391363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Reserve-before-submit or re-delivery double-submits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8028432" y="3291840"/>
            <a:ext cx="3611880" cy="1371600"/>
          </a:xfrm>
          <a:prstGeom prst="roundRect">
            <a:avLst>
              <a:gd fmla="val 6667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8284464" y="34747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Guardrail the LLM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8284464" y="391363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It will be confidently wrong — verify its pick deterministically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/>
          <p:nvPr/>
        </p:nvSpPr>
        <p:spPr>
          <a:xfrm>
            <a:off x="566928" y="822960"/>
            <a:ext cx="1828800" cy="457200"/>
          </a:xfrm>
          <a:prstGeom prst="roundRect">
            <a:avLst>
              <a:gd fmla="val 50000" name="adj"/>
            </a:avLst>
          </a:prstGeom>
          <a:solidFill>
            <a:srgbClr val="16273A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5"/>
          <p:cNvSpPr/>
          <p:nvPr/>
        </p:nvSpPr>
        <p:spPr>
          <a:xfrm>
            <a:off x="566928" y="8229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 now extend agents with the Browser tool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566928" y="269748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5"/>
          <p:cNvSpPr/>
          <p:nvPr/>
        </p:nvSpPr>
        <p:spPr>
          <a:xfrm>
            <a:off x="868680" y="29535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5"/>
          <p:cNvSpPr/>
          <p:nvPr/>
        </p:nvSpPr>
        <p:spPr>
          <a:xfrm>
            <a:off x="868680" y="2953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1554480" y="2697480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4297680" y="2697480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Managed, isolated built-in tools your agent calls — no infra to run.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66928" y="379476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1B2B3F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868680" y="405079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868680" y="4050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1554480" y="3794760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Integrate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4297680" y="3794760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Drive the Browser tool two ways: Playwright (deterministic) or Nova Act (agentic).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566928" y="489204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223349"/>
          </a:solidFill>
          <a:ln>
            <a:noFill/>
          </a:ln>
          <a:effectLst>
            <a:outerShdw blurRad="101600" rotWithShape="0" algn="bl" dir="5400000" dist="38100">
              <a:srgbClr val="08111C">
                <a:alpha val="5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868680" y="514807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868680" y="5148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1554480" y="4892040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Combine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4297680" y="4892040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2FA"/>
                </a:solidFill>
                <a:latin typeface="Calibri"/>
                <a:ea typeface="Calibri"/>
                <a:cs typeface="Calibri"/>
                <a:sym typeface="Calibri"/>
              </a:rPr>
              <a:t>Wrap browser work as tools; a Strands agent orchestrates, a guardrail keeps it safe.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Labs 3 &amp; 4 + workflow_info.md + ImplementationPlan.md  ·  make it your 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AgentCore Browser Tool  ·  Labs 3 &amp;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1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